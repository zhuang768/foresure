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NP  秀英初号明朝  Std" charset="1" panose="02020700000000000000"/>
      <p:regular r:id="rId22"/>
    </p:embeddedFont>
    <p:embeddedFont>
      <p:font typeface="Gotham" charset="1" panose="00000000000000000000"/>
      <p:regular r:id="rId23"/>
    </p:embeddedFont>
    <p:embeddedFont>
      <p:font typeface="Inter" charset="1" panose="02000503000000020004"/>
      <p:regular r:id="rId24"/>
    </p:embeddedFont>
    <p:embeddedFont>
      <p:font typeface="Gotham Bold" charset="1" panose="00000000000000000000"/>
      <p:regular r:id="rId25"/>
    </p:embeddedFont>
    <p:embeddedFont>
      <p:font typeface="Times New Roman MT Condensed" charset="1" panose="02030506070405020303"/>
      <p:regular r:id="rId26"/>
    </p:embeddedFont>
    <p:embeddedFont>
      <p:font typeface="Times New Roman MT Condensed Italics" charset="1" panose="02030506070405090303"/>
      <p:regular r:id="rId27"/>
    </p:embeddedFont>
    <p:embeddedFont>
      <p:font typeface="Gotham Light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7880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6" y="0"/>
                </a:lnTo>
                <a:lnTo>
                  <a:pt x="19285436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801" y="1466189"/>
            <a:ext cx="11360014" cy="4254245"/>
          </a:xfrm>
          <a:custGeom>
            <a:avLst/>
            <a:gdLst/>
            <a:ahLst/>
            <a:cxnLst/>
            <a:rect r="r" b="b" t="t" l="l"/>
            <a:pathLst>
              <a:path h="4254245" w="11360014">
                <a:moveTo>
                  <a:pt x="0" y="0"/>
                </a:moveTo>
                <a:lnTo>
                  <a:pt x="11360014" y="0"/>
                </a:lnTo>
                <a:lnTo>
                  <a:pt x="11360014" y="4254245"/>
                </a:lnTo>
                <a:lnTo>
                  <a:pt x="0" y="425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860" t="-77826" r="-3144" b="-11858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07880" y="5453734"/>
            <a:ext cx="1313419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800" spc="-42">
                <a:solidFill>
                  <a:srgbClr val="0E4714"/>
                </a:solidFill>
                <a:latin typeface="DNP  秀英初号明朝  Std"/>
                <a:ea typeface="DNP  秀英初号明朝  Std"/>
                <a:cs typeface="DNP  秀英初号明朝  Std"/>
                <a:sym typeface="DNP  秀英初号明朝  Std"/>
              </a:rPr>
              <a:t>Automated Parametric Insurance Platform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2024" y="9477375"/>
            <a:ext cx="2165700" cy="4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TZU-CHIN CHUANG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LEE, WEN 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7880" y="6398851"/>
            <a:ext cx="7983935" cy="210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Tri-Agent Adversarial Consensus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67-Year Empirical Disaster Modeling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Deterministic Grounding Checker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  <a:r>
              <a:rPr lang="en-US" sz="1817" spc="-36">
                <a:solidFill>
                  <a:srgbClr val="0E4714"/>
                </a:solidFill>
                <a:latin typeface="Inter"/>
                <a:ea typeface="Inter"/>
                <a:cs typeface="Inter"/>
                <a:sym typeface="Inter"/>
              </a:rPr>
              <a:t>Ethereum Sepolia Immutable Proof</a:t>
            </a:r>
          </a:p>
          <a:p>
            <a:pPr algn="l">
              <a:lnSpc>
                <a:spcPts val="33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1718" y="3600450"/>
            <a:ext cx="5175629" cy="6285113"/>
            <a:chOff x="0" y="0"/>
            <a:chExt cx="1363129" cy="16553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63129" cy="1655338"/>
            </a:xfrm>
            <a:custGeom>
              <a:avLst/>
              <a:gdLst/>
              <a:ahLst/>
              <a:cxnLst/>
              <a:rect r="r" b="b" t="t" l="l"/>
              <a:pathLst>
                <a:path h="1655338" w="1363129">
                  <a:moveTo>
                    <a:pt x="76288" y="0"/>
                  </a:moveTo>
                  <a:lnTo>
                    <a:pt x="1286841" y="0"/>
                  </a:lnTo>
                  <a:cubicBezTo>
                    <a:pt x="1307074" y="0"/>
                    <a:pt x="1326478" y="8037"/>
                    <a:pt x="1340784" y="22344"/>
                  </a:cubicBezTo>
                  <a:cubicBezTo>
                    <a:pt x="1355091" y="36651"/>
                    <a:pt x="1363129" y="56055"/>
                    <a:pt x="1363129" y="76288"/>
                  </a:cubicBezTo>
                  <a:lnTo>
                    <a:pt x="1363129" y="1579051"/>
                  </a:lnTo>
                  <a:cubicBezTo>
                    <a:pt x="1363129" y="1621183"/>
                    <a:pt x="1328973" y="1655338"/>
                    <a:pt x="1286841" y="1655338"/>
                  </a:cubicBezTo>
                  <a:lnTo>
                    <a:pt x="76288" y="1655338"/>
                  </a:lnTo>
                  <a:cubicBezTo>
                    <a:pt x="34155" y="1655338"/>
                    <a:pt x="0" y="1621183"/>
                    <a:pt x="0" y="1579051"/>
                  </a:cubicBezTo>
                  <a:lnTo>
                    <a:pt x="0" y="76288"/>
                  </a:lnTo>
                  <a:cubicBezTo>
                    <a:pt x="0" y="34155"/>
                    <a:pt x="34155" y="0"/>
                    <a:pt x="7628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363129" cy="1683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75657" y="3714770"/>
            <a:ext cx="5450111" cy="6170793"/>
            <a:chOff x="0" y="0"/>
            <a:chExt cx="1435420" cy="1625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5420" cy="1625230"/>
            </a:xfrm>
            <a:custGeom>
              <a:avLst/>
              <a:gdLst/>
              <a:ahLst/>
              <a:cxnLst/>
              <a:rect r="r" b="b" t="t" l="l"/>
              <a:pathLst>
                <a:path h="1625230" w="1435420">
                  <a:moveTo>
                    <a:pt x="72446" y="0"/>
                  </a:moveTo>
                  <a:lnTo>
                    <a:pt x="1362974" y="0"/>
                  </a:lnTo>
                  <a:cubicBezTo>
                    <a:pt x="1382188" y="0"/>
                    <a:pt x="1400615" y="7633"/>
                    <a:pt x="1414201" y="21219"/>
                  </a:cubicBezTo>
                  <a:cubicBezTo>
                    <a:pt x="1427787" y="34805"/>
                    <a:pt x="1435420" y="53232"/>
                    <a:pt x="1435420" y="72446"/>
                  </a:cubicBezTo>
                  <a:lnTo>
                    <a:pt x="1435420" y="1552784"/>
                  </a:lnTo>
                  <a:cubicBezTo>
                    <a:pt x="1435420" y="1592794"/>
                    <a:pt x="1402985" y="1625230"/>
                    <a:pt x="1362974" y="1625230"/>
                  </a:cubicBezTo>
                  <a:lnTo>
                    <a:pt x="72446" y="1625230"/>
                  </a:lnTo>
                  <a:cubicBezTo>
                    <a:pt x="53232" y="1625230"/>
                    <a:pt x="34805" y="1617597"/>
                    <a:pt x="21219" y="1604011"/>
                  </a:cubicBezTo>
                  <a:cubicBezTo>
                    <a:pt x="7633" y="1590424"/>
                    <a:pt x="0" y="1571998"/>
                    <a:pt x="0" y="1552784"/>
                  </a:cubicBezTo>
                  <a:lnTo>
                    <a:pt x="0" y="72446"/>
                  </a:lnTo>
                  <a:cubicBezTo>
                    <a:pt x="0" y="53232"/>
                    <a:pt x="7633" y="34805"/>
                    <a:pt x="21219" y="21219"/>
                  </a:cubicBezTo>
                  <a:cubicBezTo>
                    <a:pt x="34805" y="7633"/>
                    <a:pt x="53232" y="0"/>
                    <a:pt x="7244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35420" cy="165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19727" y="3714770"/>
            <a:ext cx="6079281" cy="6170793"/>
            <a:chOff x="0" y="0"/>
            <a:chExt cx="1601127" cy="1625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1127" cy="1625230"/>
            </a:xfrm>
            <a:custGeom>
              <a:avLst/>
              <a:gdLst/>
              <a:ahLst/>
              <a:cxnLst/>
              <a:rect r="r" b="b" t="t" l="l"/>
              <a:pathLst>
                <a:path h="1625230" w="1601127">
                  <a:moveTo>
                    <a:pt x="64948" y="0"/>
                  </a:moveTo>
                  <a:lnTo>
                    <a:pt x="1536179" y="0"/>
                  </a:lnTo>
                  <a:cubicBezTo>
                    <a:pt x="1572049" y="0"/>
                    <a:pt x="1601127" y="29078"/>
                    <a:pt x="1601127" y="64948"/>
                  </a:cubicBezTo>
                  <a:lnTo>
                    <a:pt x="1601127" y="1560281"/>
                  </a:lnTo>
                  <a:cubicBezTo>
                    <a:pt x="1601127" y="1577507"/>
                    <a:pt x="1594285" y="1594027"/>
                    <a:pt x="1582105" y="1606207"/>
                  </a:cubicBezTo>
                  <a:cubicBezTo>
                    <a:pt x="1569924" y="1618387"/>
                    <a:pt x="1553405" y="1625230"/>
                    <a:pt x="1536179" y="1625230"/>
                  </a:cubicBezTo>
                  <a:lnTo>
                    <a:pt x="64948" y="1625230"/>
                  </a:lnTo>
                  <a:cubicBezTo>
                    <a:pt x="47723" y="1625230"/>
                    <a:pt x="31203" y="1618387"/>
                    <a:pt x="19023" y="1606207"/>
                  </a:cubicBezTo>
                  <a:cubicBezTo>
                    <a:pt x="6843" y="1594027"/>
                    <a:pt x="0" y="1577507"/>
                    <a:pt x="0" y="1560281"/>
                  </a:cubicBezTo>
                  <a:lnTo>
                    <a:pt x="0" y="64948"/>
                  </a:lnTo>
                  <a:cubicBezTo>
                    <a:pt x="0" y="47723"/>
                    <a:pt x="6843" y="31203"/>
                    <a:pt x="19023" y="19023"/>
                  </a:cubicBezTo>
                  <a:cubicBezTo>
                    <a:pt x="31203" y="6843"/>
                    <a:pt x="47723" y="0"/>
                    <a:pt x="6494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01127" cy="1653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55410" y="1011737"/>
            <a:ext cx="481341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1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2483" y="1686983"/>
            <a:ext cx="14847804" cy="107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Actuarial Dilemma in Emerging Risks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sz="1799" spc="-3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Why traditional development cycles struggle to price unmodelled perils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842" y="3892350"/>
            <a:ext cx="2496592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9-Month Lag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1798" y="5289263"/>
            <a:ext cx="3267224" cy="60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R&amp;D Cycle Latency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236" y="6696202"/>
            <a:ext cx="4678493" cy="2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1"/>
              </a:lnSpc>
              <a:spcBef>
                <a:spcPct val="0"/>
              </a:spcBef>
            </a:pPr>
            <a:r>
              <a:rPr lang="en-US" sz="2599" spc="-5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Policies take 6 to 9 months to draft and file; by then, the catastrophe event has already passed.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52048" y="3892350"/>
            <a:ext cx="3509083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Zero Prior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6098" y="5289263"/>
            <a:ext cx="4300984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Actuarial Pricing Vacuum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75657" y="6696202"/>
            <a:ext cx="5450111" cy="23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sz="2600" spc="-5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Emerging climate and AI infrastructure risks lack historical claims data, making traditional models non-viable.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48303" y="3892350"/>
            <a:ext cx="3715048" cy="6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84"/>
              </a:lnSpc>
              <a:spcBef>
                <a:spcPct val="0"/>
              </a:spcBef>
            </a:pPr>
            <a:r>
              <a:rPr lang="en-US" sz="3200" spc="-64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15% Claims Friction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6389" y="5289263"/>
            <a:ext cx="5298877" cy="609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5"/>
              </a:lnSpc>
              <a:spcBef>
                <a:spcPct val="0"/>
              </a:spcBef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High Loss Adjustment Expense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12646" y="6686176"/>
            <a:ext cx="5986361" cy="238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  <a:spcBef>
                <a:spcPct val="0"/>
              </a:spcBef>
            </a:pPr>
            <a:r>
              <a:rPr lang="en-US" sz="2600" spc="-52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Manual surveys take weeks, consuming up to 15% of gross premiums in disputes and administrative overhead.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Tri-Agent Adversarial Consensus Pipeline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Moving from raw telemetry to grounded policy through continuous dialectic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Gotham Bold"/>
              </a:defRPr>
            </a:pPr>
            <a:r>
              <a:t>STEP 01 // TELEMETRY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News Radar &amp; ChromaDB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Google News RSS automatically captures emerging peril events (climate, cyber, grid outages)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ChromaDB dense semantic vector search indexes 30 Cathay Century Insurance policies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Cosine similarity instantly pinpoints unserved policy gaps (&lt; 3 seconds)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Contextual gap analysis is compiled into structured prompts for the PM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91840"/>
            <a:ext cx="62179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566928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  <a:latin typeface="Gotham Bold"/>
              </a:defRPr>
            </a:pPr>
            <a:r>
              <a:t>STEP 02 // DIALECTIC ARENA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PM vs Underwriter Debate</a:t>
            </a:r>
          </a:p>
          <a:p>
            <a:pPr>
              <a:spcBef>
                <a:spcPts val="800"/>
              </a:spcBef>
              <a:defRPr sz="1800" b="1">
                <a:solidFill>
                  <a:srgbClr val="1D4ED8"/>
                </a:solidFill>
                <a:latin typeface="Gotham Bold"/>
              </a:defRPr>
            </a:pPr>
            <a:r>
              <a:t>Product Manager (Expansion Bias)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Drafts high-appeal parametric structures to capture market gaps</a:t>
            </a:r>
          </a:p>
          <a:p>
            <a:pPr>
              <a:spcBef>
                <a:spcPts val="1200"/>
              </a:spcBef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▲▼ Multi-Round Adversarial Cross-Examination</a:t>
            </a:r>
          </a:p>
          <a:p>
            <a:pPr>
              <a:spcBef>
                <a:spcPts val="800"/>
              </a:spcBef>
              <a:defRPr sz="1800" b="1">
                <a:solidFill>
                  <a:srgbClr val="C2410C"/>
                </a:solidFill>
                <a:latin typeface="Gotham Bold"/>
              </a:defRPr>
            </a:pPr>
            <a:r>
              <a:t>Senior Underwriter (Risk Shield)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Ruthlessly challenges moral hazards, fraud loopholes &amp; catastrophe aggregation</a:t>
            </a:r>
          </a:p>
          <a:p>
            <a:pPr>
              <a:defRPr sz="1600">
                <a:solidFill>
                  <a:srgbClr val="17211C"/>
                </a:solidFill>
                <a:latin typeface="Gotham"/>
              </a:defRPr>
            </a:pPr>
            <a:r>
              <a:t>· Enforces strict exclusion clauses and verifies objective parametric data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Gotham Bold"/>
              </a:defRPr>
            </a:pPr>
            <a:r>
              <a:t>STEP 03 // CONVERGENCE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Actuarial Structuring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Reconciles commercial growth with strict underwriting solvency boundaries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Solvency II / TW-ICS 99.5% capital margin with 1.2x - 3.0x dynamic safety markup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Pure algorithmic Function Calling outputs 12 structured Chinese &amp; English fields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Generates 32-byte SHA-256 fingerprint for Ethereum Sepolia smart contract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ACTUARIAL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67-Year Empirical NFA Disaster Loss Modeling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Grounded in real government disaster statistics, Poisson event frequencies, and Solvency II margins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EMPIRICAL HISTORICAL BASELINE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67 Years of Disaster Data (1958 - 2025)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National Fire Agency (NFA) Historical Records: 67 years of Taiwan natural disaster statistics (typhoons, floods, earthquakes).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Post-1995 Severe Event Filtering: Evaluates events with &gt;= 50 destroyed households post-1995 building code overhaul to reflect current exposure.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Poisson Annual Frequency Modeling: Calculates empirical annual arrival probability λ without artificial curve-smoothing bias.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Taiwan Earthquake Insurance Benchmark: NT$ 1,500,000 full-loss benefit baseline from Residential Earthquake Basic Insurance.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Preserving True Tail Risks: Captures severe historical events (e.g. 921 Earthquake) to test heavy-tail exposure accurately.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TRANSPARENT EVIDENCE ATTRIBUTION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Real Statistics vs Explicit Assumptions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Real Statistics Badge (真實統計): Typhoon, flood, and earthquake probabilities are tied directly to official government archives.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Explicit Assumption Disclosure (假設值揭露): Emerging perils without official loss history (ransomware, cloud outages) are strictly flagged as assumptions.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Dynamic Safety Markup: 1.2x to 3.0x markup scaling with event frequency to absorb parameter uncertainty and operational expenses.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Solvency II / TW-ICS Capital Margins: Dynamic 99.5% capital adequacy stress testing ensures financial solvency.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Complete Audit Transparency: Actuarial basis metadata attached to every single figure, preventing misleading quotes.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TRUST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Deterministic Grounding &amp; Ethereum Sepolia Attestation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Eliminating hallucinations with non-LLM algorithmic rules and immutable smart contract proofs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DEFENSE LAYER 01 // GROUNDING CHECK</a:t>
            </a:r>
          </a:p>
          <a:p>
            <a:pPr>
              <a:defRPr sz="2300" b="1">
                <a:solidFill>
                  <a:srgbClr val="0E4714"/>
                </a:solidFill>
                <a:latin typeface="Gotham Bold"/>
              </a:defRPr>
            </a:pPr>
            <a:r>
              <a:t>Pure Algorithmic Anti-Hallucination (v1.1)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100% Deterministic &amp; Non-LLM: Does not rely on model self-evaluation. 100 tests produce 100 identical audit verdicts.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Unsupported Number Audit (High Severity): Every number in market gap and business logic must trace to the actuarial engine, news text, or policy database (2% tolerance).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Unverified Citation Trap (High Severity): Any 'according to X' claim must exist verbatim in ingested evidence.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Missing Disclosure Flag (Medium Severity): Actuarial assumptions must explicitly contain 'estimated' or 'assumed'.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Tamper-Proof Audit Status: Grounding verdict (pass / warn / fail) and flag counts are sealed into the decision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3291840"/>
            <a:ext cx="822960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566160"/>
            <a:ext cx="749807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DEFENSE LAYER 02 // BLOCKCHAIN PROOF</a:t>
            </a:r>
          </a:p>
          <a:p>
            <a:pPr>
              <a:defRPr sz="2300" b="1">
                <a:solidFill>
                  <a:srgbClr val="0E4714"/>
                </a:solidFill>
                <a:latin typeface="Gotham Bold"/>
              </a:defRPr>
            </a:pPr>
            <a:r>
              <a:t>Ethereum Sepolia Smart Contract Notary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32-Byte SHA-256 Decision Fingerprint: 13 canonical fields (decision ID, news trigger, pricing, grounding verdict) hashed into AuditRegistry.sol.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Zero Business Secret Leakage: Only the cryptographic hash is published on-chain; proprietary trade secrets remain in internal storage.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Append-Only Immutable Registry: The smart contract contains no update or delete functions, ensuring regulatory auditability.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Destructive Tamper Test: Judges can alter any single digit on the live dashboard—on-chain verification immediately fails with red alert.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Public Verification on Etherscan: Directly verifiable by regulators and auditors on the public Ethereum Sepolia testnet.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Apigee Gateway, Cloudflare Edge &amp; Bilingual Dossier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From rapid hackathon prototype to production-grade financial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TIER 01 // SECURITY GATEWAY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Cathay Apigee Ready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Enterprise JWT Bearer Authentication (HTTPBearer) protecting pipeline trigger endpoints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Client IP Rate Limiting (30 requests/minute) guarding against DDoS and quota exhaustion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12-Stage Server-Sent Events (SSE) live pipeline stream at /api/v1/runs/{id}/events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Full compliance with Cathay Financial Holdings API security specifications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291840"/>
            <a:ext cx="62179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566160"/>
            <a:ext cx="566928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TIER 02 // GLOBAL EDGE UI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Cloudflare Edge Production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Next.js 16 + React 19 + TypeScript deployed globally on Cloudflare Pages edge CDN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0-ms Instant Loading Archive: 20 historical proposals preloaded for offline judge browsing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Financial Instrument Aesthetic: Zero emojis, dark/light OLED theme, and bilingual ZH/EN toggle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Live decision replay and interactive on-chain tamper detection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0" y="3291840"/>
            <a:ext cx="512064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0" y="3566160"/>
            <a:ext cx="4572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  <a:latin typeface="Gotham Bold"/>
              </a:defRPr>
            </a:pPr>
            <a:r>
              <a:t>TIER 03 // FILING DOSSIER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Automated Bilingual Word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1-Click Automated .docx Dossier Generation for internal insurance committee review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Side-by-Side Traditional Chinese and English text across all six policy clauses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Clickable Hyperlinks directly connecting back to original trigger news sources</a:t>
            </a:r>
          </a:p>
          <a:p>
            <a:pPr>
              <a:spcBef>
                <a:spcPts val="10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Embedded Grounding Verdict badge, Etherscan transaction link, and hash seal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17" y="497829"/>
            <a:ext cx="1427565" cy="1656466"/>
          </a:xfrm>
          <a:custGeom>
            <a:avLst/>
            <a:gdLst/>
            <a:ahLst/>
            <a:cxnLst/>
            <a:rect r="r" b="b" t="t" l="l"/>
            <a:pathLst>
              <a:path h="1656466" w="1427565">
                <a:moveTo>
                  <a:pt x="0" y="0"/>
                </a:moveTo>
                <a:lnTo>
                  <a:pt x="1427566" y="0"/>
                </a:lnTo>
                <a:lnTo>
                  <a:pt x="1427566" y="1656466"/>
                </a:lnTo>
                <a:lnTo>
                  <a:pt x="0" y="1656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826" t="-306010" r="-128802" b="-17682"/>
            </a:stretch>
          </a:blipFill>
        </p:spPr>
      </p:sp>
      <p:sp>
        <p:nvSpPr>
          <p:cNvPr id="3" name="TextBox 2"/>
          <p:cNvSpPr txBox="1"/>
          <p:nvPr/>
        </p:nvSpPr>
        <p:spPr>
          <a:xfrm>
            <a:off x="2551176" y="96012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4714"/>
                </a:solidFill>
                <a:latin typeface="Gotham Bold"/>
              </a:defRPr>
            </a:pPr>
            <a:r>
              <a:t>LIVE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504" y="1664208"/>
            <a:ext cx="1508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4714"/>
                </a:solidFill>
                <a:latin typeface="Gotham Bold"/>
              </a:defRPr>
            </a:pPr>
            <a:r>
              <a:t>The Actuary's AI Decision Co-Pilot in Production</a:t>
            </a:r>
          </a:p>
          <a:p>
            <a:pPr>
              <a:defRPr sz="1700">
                <a:solidFill>
                  <a:srgbClr val="4A5568"/>
                </a:solidFill>
                <a:latin typeface="Gotham"/>
              </a:defRPr>
            </a:pPr>
            <a:r>
              <a:t>AI accelerates the draft in 85s. Human experts sign off. The blockchain guarantees permanent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841248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68096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714"/>
                </a:solidFill>
                <a:latin typeface="Gotham Bold"/>
              </a:defRPr>
            </a:pPr>
            <a:r>
              <a:t>LIVE PRODUCTION ACCESS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Interactive Demo Playbook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Production URL: https://atlas-insurance-dashboard.pages.dev/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1: System Intro (/) — Explore Tri-Agent architecture &amp; real-time telemetry strip.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2: Live Analysis (/generator) — 85-second live news crawl, 3-way debate, and on-chain sealing.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3: Historical Vault (/history) — Browse 20 pre-audited records with instant search and debate replay.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Step 4: Audit &amp; Tamper Test — Click 'Verify' for contract match; click 'Tamper Test' to alter probability and watch the blockchain fail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3291840"/>
            <a:ext cx="8046720" cy="6400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7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3566160"/>
            <a:ext cx="73152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862"/>
                </a:solidFill>
                <a:latin typeface="Gotham Bold"/>
              </a:defRPr>
            </a:pPr>
            <a:r>
              <a:t>STRATEGIC MISSION &amp; TEAM</a:t>
            </a:r>
          </a:p>
          <a:p>
            <a:pPr>
              <a:defRPr sz="2400" b="1">
                <a:solidFill>
                  <a:srgbClr val="0E4714"/>
                </a:solidFill>
                <a:latin typeface="Gotham Bold"/>
              </a:defRPr>
            </a:pPr>
            <a:r>
              <a:t>Team ForeSure 未然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Team Members: TZU-CHIN CHUANG (莊子進) · WEN-HAN LEE (李文瀚)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Event: FUTUREMODE x SITCON BUILDMODE Hackathon 2026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Core Philosophy: We do NOT replace actuaries. We empower them to start from a rigorous, data-backed draft rather than a blank sheet.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Regulatory Alignment: Strictly complies with Taiwan Insurance Bureau filing norms; human appointed actuaries retain final sign-off authority.</a:t>
            </a:r>
          </a:p>
          <a:p>
            <a:pPr>
              <a:spcBef>
                <a:spcPts val="800"/>
              </a:spcBef>
              <a:defRPr sz="1700">
                <a:solidFill>
                  <a:srgbClr val="17211C"/>
                </a:solidFill>
                <a:latin typeface="Gotham"/>
              </a:defRPr>
            </a:pPr>
            <a:r>
              <a:t>· Blockchain's Real Role: Not for volatile token payments, but as an immutable public notary ensuring AI transparency and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DAHUWgUfFt4</dc:identifier>
  <dcterms:modified xsi:type="dcterms:W3CDTF">2011-08-01T06:04:30Z</dcterms:modified>
  <cp:revision>1</cp:revision>
  <dc:title>ForeSure未然</dc:title>
</cp:coreProperties>
</file>